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embeddedFontLst>
    <p:embeddedFont>
      <p:font typeface="Inter"/>
      <p:regular r:id="rId5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xmlns="" Id="rId55" Type="http://schemas.openxmlformats.org/officeDocument/2006/relationships/font" Target="fonts/rId5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тем как будем обсуждать сам градл, рассмотрим вообще такой инструмент как сборка проекта и как он исторически развивался от первых сборщиков и поставщиков зависимостей и до текущего инструмента под названием Gradle. Поймем почему Gradle считается лучшим решением и как он стал настолько популярным.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Предлагаю рассмотреть историю возникновения инструментов для автоматизации. Благодаря этому мы поймем почему градл разработан таким образом, а никак по другому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Давайте посмотрим, из чего состоит Gradle-проект и где описывается его конфигурация.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мой доклад завершён. Надеюсь, теперь Gradle для вас — это не просто чёрный ящик, а понятный инструмент для сборки вашего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medium.com/@sridhar-sp/simplify-your-android-builds-a-guide-to-convention-plugins-b9fea8c5e117" TargetMode="External"/><Relationship Id="rId2" Type="http://schemas.openxmlformats.org/officeDocument/2006/relationships/hyperlink" Target="https://medium.com/@magicbluepenguin/how-to-create-your-first-custom-gradle-plugin-efc1333d441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radle.org/current/userguide/gradle_daemon.html" TargetMode="External"/><Relationship Id="rId2" Type="http://schemas.openxmlformats.org/officeDocument/2006/relationships/hyperlink" Target="https://docs.gradle.org/current/userguide/gradle_wrapper.html" TargetMode="External"/><Relationship Id="rId3" Type="http://schemas.openxmlformats.org/officeDocument/2006/relationships/hyperlink" Target="https://docs.gradle.org/current/userguide/settings_file_basics.html" TargetMode="External"/><Relationship Id="rId4" Type="http://schemas.openxmlformats.org/officeDocument/2006/relationships/hyperlink" Target="https://docs.gradle.org/current/userguide/build_file_basics.html" TargetMode="External"/><Relationship Id="rId5" Type="http://schemas.openxmlformats.org/officeDocument/2006/relationships/hyperlink" Target="https://docs.gradle.org/current/userguide/plugins.html" TargetMode="External"/><Relationship Id="rId6" Type="http://schemas.openxmlformats.org/officeDocument/2006/relationships/hyperlink" Target="https://docs.gradle.org/current/userguide/getting_started_dep_man.html" TargetMode="External"/><Relationship Id="rId7" Type="http://schemas.openxmlformats.org/officeDocument/2006/relationships/hyperlink" Target="https://docs.gradle.org/current/userguide/build_lifecycle_intermediate.html#build_lifecycle" TargetMode="External"/><Relationship Id="rId8" Type="http://schemas.openxmlformats.org/officeDocument/2006/relationships/hyperlink" Target="https://docs.gradle.org/current/userguide/build_cache.html" TargetMode="External"/><Relationship Id="rId9" Type="http://schemas.openxmlformats.org/officeDocument/2006/relationships/hyperlink" Target="https://docs.gradle.org/current/userguide/configuration_cache.html" TargetMode="External"/><Relationship Id="rId10" Type="http://schemas.openxmlformats.org/officeDocument/2006/relationships/hyperlink" Target="https://docs.gradle.org/current/userguide/dependency_caching.html" TargetMode="External"/><Relationship Id="rId11" Type="http://schemas.openxmlformats.org/officeDocument/2006/relationships/hyperlink" Target="https://dpeuniversity.gradle.com/app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62375" y="176213"/>
            <a:ext cx="4772025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2019300"/>
            <a:ext cx="3767138" cy="110490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09600" y="2019300"/>
            <a:ext cx="37671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gradle?</a:t>
            </a:r>
            <a:endParaRPr lang="en-US" sz="1710" dirty="0"/>
          </a:p>
        </p:txBody>
      </p:sp>
      <p:sp>
        <p:nvSpPr>
          <p:cNvPr id="5" name="Text 2"/>
          <p:cNvSpPr/>
          <p:nvPr/>
        </p:nvSpPr>
        <p:spPr>
          <a:xfrm>
            <a:off x="609600" y="2409825"/>
            <a:ext cx="376713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для автоматизации сборки проекта, управления зависимостями и выполнения задач</a:t>
            </a:r>
            <a:endParaRPr lang="en-US" sz="128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Ручная сборка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609600" y="1123950"/>
            <a:ext cx="7924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Разработчики собирали проекты вручную или с помощью простых скриптов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Зависимости подключались через копирование и вставку кода или .jar-файлов между проектами</a:t>
            </a:r>
            <a:endParaRPr lang="en-US" sz="1283" dirty="0"/>
          </a:p>
        </p:txBody>
      </p:sp>
      <p:sp>
        <p:nvSpPr>
          <p:cNvPr id="5" name="Text 2"/>
          <p:cNvSpPr/>
          <p:nvPr/>
        </p:nvSpPr>
        <p:spPr>
          <a:xfrm>
            <a:off x="2543175" y="2333625"/>
            <a:ext cx="59912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Минусы такого подхода: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Достаточно трудоемко. Нужно было в ручную делать сборку проекта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 поддерживать новую версию библиотеки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Конфликты версий библиотеки</a:t>
            </a:r>
            <a:endParaRPr lang="en-US" sz="128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76413"/>
            <a:ext cx="1724025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23988"/>
            <a:ext cx="4271963" cy="22955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23988"/>
            <a:ext cx="42719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814513"/>
            <a:ext cx="427196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Ant - инструмент написанный на Java, который  автоматизирует процесс сборки ПО.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 использует специальный сценарий для сборки, который является  XML-файлом.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нем отсутствует dependency manager. Для этого нужно отдельно подключать библиотеку IVY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0" y="1171575"/>
            <a:ext cx="346710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для сборки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076450"/>
            <a:ext cx="3780258" cy="104980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143000"/>
            <a:ext cx="4019550" cy="31109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1828800"/>
            <a:ext cx="6905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HelloWorld.java</a:t>
            </a:r>
            <a:endParaRPr lang="en-US" sz="713" dirty="0"/>
          </a:p>
        </p:txBody>
      </p:sp>
      <p:sp>
        <p:nvSpPr>
          <p:cNvPr id="6" name="Text 2"/>
          <p:cNvSpPr/>
          <p:nvPr/>
        </p:nvSpPr>
        <p:spPr>
          <a:xfrm>
            <a:off x="4572000" y="895350"/>
            <a:ext cx="4048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build.xml</a:t>
            </a:r>
            <a:endParaRPr lang="en-US" sz="7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Плюсы и минусы ANT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609600" y="2662238"/>
            <a:ext cx="3414713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Использование XML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гайдланов или базовых инструкций по настройки проектов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API для измерения работы ANT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встроенного dependency manager</a:t>
            </a:r>
            <a:endParaRPr lang="en-US" sz="1069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500188"/>
            <a:ext cx="3405188" cy="11620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95825" y="2709863"/>
            <a:ext cx="3838575" cy="78105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4695825" y="2709863"/>
            <a:ext cx="38385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сборки проекта (компиляция, запуск, тестирование)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Гибкость - можно описать любой процесс сборки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Независимость от структуры проекта</a:t>
            </a:r>
            <a:endParaRPr lang="en-US" sz="10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5825" y="1533525"/>
            <a:ext cx="3405188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693069"/>
            <a:ext cx="3238500" cy="17573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693069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083594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сборки и управления проектом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Декларативный подход (описание проекта через POM)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 over Configuration (минимум настроек)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Встроенное управление зависимостями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52400"/>
            <a:ext cx="39624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81025" y="4533900"/>
            <a:ext cx="38100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81025" y="45339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4724400" y="4533900"/>
            <a:ext cx="3810000" cy="228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24400" y="45339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 over Configuration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38225"/>
            <a:ext cx="3867150" cy="2767331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4400" y="352425"/>
            <a:ext cx="3133725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 build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1057275"/>
            <a:ext cx="3667125" cy="1281113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1057275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lifecycle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1362075"/>
            <a:ext cx="366712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Компиляция исходников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юнит тестов и других тестов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итогового артефакта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Выпуск артефакта в локальный или удаленный репозиторий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4768853" y="1057275"/>
            <a:ext cx="3767138" cy="1671638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768853" y="1057275"/>
            <a:ext cx="3767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phases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768853" y="1362075"/>
            <a:ext cx="3767138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Phase (фаза проверки).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 Phase (фаза компиляции)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Phase (фаза тестирования)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Phase (фаза упаковки)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Phase (фаза тестирования)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Phase (фаза установки)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Phase (фаза деплоя)</a:t>
            </a:r>
            <a:endParaRPr lang="en-US" sz="10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 на gradle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2185988"/>
            <a:ext cx="1751409" cy="1219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2490788"/>
            <a:ext cx="17514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сборки и управления зависимостями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Построен на идеях Ant и Maven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Не использует XML (в отличие от Maven и Ant)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2665809" y="2185988"/>
            <a:ext cx="1751409" cy="1371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665809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конфигурации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665809" y="2490788"/>
            <a:ext cx="175140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 DSL на Groovy (и Kotlin DSL)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Работает на JVM → поддержка Java, Groovy, Kotlin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Более компактная и читаемая конфигурация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722019" y="2185988"/>
            <a:ext cx="1751409" cy="1371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722019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Преимущества DSL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722019" y="2490788"/>
            <a:ext cx="175140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сборки = полноценный язык программирования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Можно использовать условия, циклы, логику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Гибкая настройка процесса сборки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778228" y="2185988"/>
            <a:ext cx="1751409" cy="17526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778228" y="2185988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зависимостями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778228" y="2719388"/>
            <a:ext cx="175140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Встроенный dependency manager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Поддержка внешних зависимостей (Maven Central, Google и др.)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Поддержка внутренних модулей (multi-module projects)</a:t>
            </a:r>
            <a:endParaRPr lang="en-US" sz="85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29438" y="9525"/>
            <a:ext cx="2100263" cy="21002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433638"/>
            <a:ext cx="3238500" cy="2762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43363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на gradle и maven</a:t>
            </a:r>
            <a:endParaRPr lang="en-US" sz="17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8100" y="185738"/>
            <a:ext cx="46863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daemon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214438"/>
            <a:ext cx="437673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Долгоживущий фоновый процесс Gradle, который остается запущенным между сборками и ускоряет последующие сборки проекта.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5425" y="1214438"/>
            <a:ext cx="3190875" cy="6810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5425" y="2200275"/>
            <a:ext cx="2800350" cy="666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5425" y="2066925"/>
            <a:ext cx="7762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gradle.properties</a:t>
            </a:r>
            <a:endParaRPr lang="en-US" sz="71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0050" y="3695700"/>
            <a:ext cx="1447800" cy="1447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71663" y="4419600"/>
            <a:ext cx="270033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Daemon по умолчанию включён</a:t>
            </a:r>
            <a:endParaRPr lang="en-US" sz="106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83606"/>
            <a:ext cx="4533900" cy="7810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83606"/>
            <a:ext cx="45339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Wrapper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574131"/>
            <a:ext cx="45339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Cкрипт (gradlew или gradlew.bat), который скачивает и запускает заданную версию Gradle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19813" y="1300163"/>
            <a:ext cx="2414588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gradle-wrapper.jar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2390775"/>
            <a:ext cx="3924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небольшой Java-приложение, которое скачивает нужную версию Gradle</a:t>
            </a:r>
            <a:endParaRPr lang="en-US" sz="128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4086225" cy="2762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408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gradle-wrapper.properties</a:t>
            </a:r>
            <a:endParaRPr lang="en-US" sz="17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962150"/>
            <a:ext cx="3752850" cy="1276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48175" y="1790700"/>
            <a:ext cx="408622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distributionBase - указывает, где хранить скачанный Gradle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distributionPath - путь внутри distributionBase, где хранится Gradle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distributionBase - указывает, какую версию Gradle скачать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zipStoreBase - где хранить архив (.zip) с Gradle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zipStorePath - путь для хранения zip-файла</a:t>
            </a:r>
            <a:endParaRPr lang="en-US" sz="1069" dirty="0"/>
          </a:p>
        </p:txBody>
      </p:sp>
      <p:sp>
        <p:nvSpPr>
          <p:cNvPr id="6" name="Text 3"/>
          <p:cNvSpPr/>
          <p:nvPr/>
        </p:nvSpPr>
        <p:spPr>
          <a:xfrm>
            <a:off x="609600" y="1000125"/>
            <a:ext cx="40862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конфигурации Wrapper.</a:t>
            </a:r>
            <a:endParaRPr lang="en-US" sz="106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432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2688" y="45339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работы Gradle Wraper</a:t>
            </a:r>
            <a:endParaRPr lang="en-US" sz="128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52675"/>
            <a:ext cx="2667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выполняемые</a:t>
            </a:r>
            <a:endParaRPr lang="en-US" sz="171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Wrapper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Стандартизация версии Gradle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Использование одной версией для всех разработчиков проекта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609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Простое обновление версии Gradle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обновления Gradle на проекте досточно изменить конфигурацию Wrapper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Одинаковая версия в разных средах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Обеспечение одинаковой версии Gradle в разных средах выполнения</a:t>
            </a:r>
            <a:endParaRPr lang="en-US" sz="85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2181225"/>
            <a:ext cx="4762500" cy="78105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09600" y="2181225"/>
            <a:ext cx="4762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gradle проекта</a:t>
            </a:r>
            <a:endParaRPr lang="en-US" sz="1710" dirty="0"/>
          </a:p>
        </p:txBody>
      </p:sp>
      <p:sp>
        <p:nvSpPr>
          <p:cNvPr id="5" name="Text 2"/>
          <p:cNvSpPr/>
          <p:nvPr/>
        </p:nvSpPr>
        <p:spPr>
          <a:xfrm>
            <a:off x="609600" y="2571750"/>
            <a:ext cx="46339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settings.gradle.kts - описывает структуру проекта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build.gradle.kts - описывает, как собирать проект</a:t>
            </a:r>
            <a:endParaRPr lang="en-US" sz="1069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19750" y="862013"/>
            <a:ext cx="29146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790700"/>
            <a:ext cx="3914775" cy="15621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790700"/>
            <a:ext cx="39147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settings.gradle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181225"/>
            <a:ext cx="3914775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Точка входа Gradle-проекта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Определяет структуру проекта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Содержит список модулей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Используется для настройки многомодульных проектов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Определяет репозитории для зависимостей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19663" y="819150"/>
            <a:ext cx="3671888" cy="355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83594"/>
            <a:ext cx="3924300" cy="9763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83594"/>
            <a:ext cx="3924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build.gradle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474119"/>
            <a:ext cx="39243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Описывает конфигурацию сборки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Содержит зависимости, плагины и задачи (tasks)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Является основным файлом сборки проекта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30605" t="0" b="0"/>
          <a:stretch/>
        </p:blipFill>
        <p:spPr>
          <a:xfrm>
            <a:off x="5267325" y="0"/>
            <a:ext cx="38766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Project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438275"/>
            <a:ext cx="34956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= модуль сборки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Связан с build.gradle(.kts)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Содержит задачи, зависимости и плагины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Выполнение зависит от зависимостей между модулями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609600" y="1066800"/>
            <a:ext cx="4591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единица сборки в Gradle.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52500"/>
            <a:ext cx="4500563" cy="34385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Task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1438275"/>
            <a:ext cx="3924300" cy="261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Представляет собой некоторую независимую единицу работы, которая выполняется во время сборки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включают: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Компиляцию исходного кода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тестов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Упаковку результата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Генерацию документации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Публикацию артефактов сборки в репозитории</a:t>
            </a:r>
            <a:endParaRPr lang="en-US" sz="128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concepts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2805113"/>
            <a:ext cx="2439987" cy="1281113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2805113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3109913"/>
            <a:ext cx="2439987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Читаются задачей: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Файлы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Параметры конфигурации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(outputs) других задач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54388" y="2805113"/>
            <a:ext cx="2439988" cy="1281113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54388" y="28051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54388" y="3109913"/>
            <a:ext cx="2439988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То, что задача выполняет: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логика задачи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например: компиляция, тестирование, копирование файлов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6099177" y="2805113"/>
            <a:ext cx="2439988" cy="1281113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9177" y="28051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099177" y="3109913"/>
            <a:ext cx="2439988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выполнения задачи: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Файлы, созданные в результате выполнения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Часто сохраняются в директории build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2000250" y="1385888"/>
            <a:ext cx="1109663" cy="838200"/>
          </a:xfrm>
          <a:prstGeom prst="roundRect">
            <a:avLst>
              <a:gd name="adj" fmla="val 8727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Inputs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24288" y="1385888"/>
            <a:ext cx="1109663" cy="838200"/>
          </a:xfrm>
          <a:prstGeom prst="roundRect">
            <a:avLst>
              <a:gd name="adj" fmla="val 8727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48325" y="1385888"/>
            <a:ext cx="1109663" cy="838200"/>
          </a:xfrm>
          <a:prstGeom prst="roundRect">
            <a:avLst>
              <a:gd name="adj" fmla="val 8727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Outputs</a:t>
            </a:r>
            <a:endParaRPr lang="en-US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9913" y="1804988"/>
            <a:ext cx="723900" cy="14028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3950" y="1804988"/>
            <a:ext cx="723900" cy="1402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Статусы задач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572000" y="1676400"/>
            <a:ext cx="3962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EXECUTED → Gradle выполнил работу.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UP-TO-DATE → работа не нужно выполнять, всё как раньше.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FROM-CACHE → работа не делалась, взяли из Build Cache.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SKIPPED → задача была пропущена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NO-SOURCE → задача есть, но нечего обрабатывать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423988"/>
            <a:ext cx="2581275" cy="229076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2688" y="4533900"/>
            <a:ext cx="4238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038" y="0"/>
            <a:ext cx="777716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669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plugins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042988"/>
            <a:ext cx="3924300" cy="457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042988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347788"/>
            <a:ext cx="392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Плагины, которые достаются из самого gradle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609600" y="2557463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Инструменты, расширяющие функциональность Gradle.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610100" y="2309813"/>
            <a:ext cx="3924300" cy="609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610100" y="2309813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4610100" y="2614613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Плагины, которые достаются из Gradle Plugin Portal или публичных репозиториев</a:t>
            </a:r>
            <a:endParaRPr lang="en-US" sz="855" dirty="0"/>
          </a:p>
        </p:txBody>
      </p:sp>
      <p:sp>
        <p:nvSpPr>
          <p:cNvPr id="10" name="Shape 8"/>
          <p:cNvSpPr/>
          <p:nvPr/>
        </p:nvSpPr>
        <p:spPr>
          <a:xfrm>
            <a:off x="4610100" y="3638550"/>
            <a:ext cx="3924300" cy="457200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4610100" y="363855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/ Custom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4610100" y="3943350"/>
            <a:ext cx="3500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Локальные плагины или плагины, которые разработали сами</a:t>
            </a:r>
            <a:endParaRPr lang="en-US" sz="85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1576388"/>
            <a:ext cx="2133600" cy="581025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0100" y="2995613"/>
            <a:ext cx="3376613" cy="4905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85963"/>
            <a:ext cx="3238500" cy="11715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985963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плагина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376488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apply(ture) - подключает этот плагин сразу и во все модули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apply(false) - подключаем сами в каждый модуль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1038" y="2071688"/>
            <a:ext cx="4043363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Кастом плагины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 как доклад и так большой, и чтобы его еще не расстягивать оставлю ссылки, как создавать кастомные плагины.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609600" y="1657350"/>
            <a:ext cx="7924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https://medium.com/@sridhar-sp/simplify-your-android-builds-a-guide-to-convention-plugins-b9fea8c5e117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https://medium.com/@magicbluepenguin/how-to-create-your-first-custom-gradle-plugin-efc1333d4419</a:t>
            </a:r>
            <a:endParaRPr lang="en-US" sz="128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85950"/>
            <a:ext cx="3762375" cy="13668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85950"/>
            <a:ext cx="3762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Зависимости в Gradle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76475"/>
            <a:ext cx="37623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Gradle зависимости привязываются к областям видимости.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представляет область видимости зависимости с помощью Configuration.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00563" y="1095375"/>
            <a:ext cx="4033837" cy="15621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0563" y="2805113"/>
            <a:ext cx="4033837" cy="124301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788319"/>
            <a:ext cx="3776662" cy="15621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788319"/>
            <a:ext cx="37766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178844"/>
            <a:ext cx="3776662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Конфигурации зависимостей - это способ определить разные наборы зависимостей для различных целей внутри проекта.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добавления Configuration  используется функция </a:t>
            </a:r>
            <a:pPr algn="l" indent="0" marL="0">
              <a:lnSpc>
                <a:spcPts val="1453"/>
              </a:lnSpc>
              <a:buNone/>
            </a:pPr>
            <a:r>
              <a:rPr lang="en-US" sz="1069" i="1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2347913"/>
            <a:ext cx="3962400" cy="5476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configuration</a:t>
            </a:r>
            <a:endParaRPr lang="en-US" sz="2138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04925"/>
          <a:ext cx="7824787" cy="3086100"/>
        </p:xfrm>
        <a:graphic>
          <a:graphicData uri="http://schemas.openxmlformats.org/drawingml/2006/table">
            <a:tbl>
              <a:tblPr/>
              <a:tblGrid>
                <a:gridCol w="1543050"/>
                <a:gridCol w="6281738"/>
              </a:tblGrid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как для компиляции, так и для выполнения, и включаемые в публичный 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implementation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для компиляции и выполнения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compileOnly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только для компиляции, не включаются в runtime и публикацию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compileOnlyApi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только для компиляции, но включаемые в публичный 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runtimeOnly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только во время выполнения, не входят в classpath компиляции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testImplementation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для компиляции и выполнения тестов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testCompileOnly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только для компиляции тестов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3"/>
                        </a:lnSpc>
                        <a:buNone/>
                      </a:pPr>
                      <a:r>
                        <a:rPr lang="en-US" sz="1069" b="1" spc="-11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testRuntimeOnly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46"/>
                        </a:lnSpc>
                        <a:buNone/>
                      </a:pPr>
                      <a:r>
                        <a:rPr lang="en-US" sz="855" spc="-4" kern="0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Зависимости, необходимые только для запуска тестов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vs implementation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28738"/>
            <a:ext cx="7924800" cy="24860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3695700"/>
            <a:ext cx="1447800" cy="1447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47800" y="4300538"/>
            <a:ext cx="537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Classpath - набор путей, по которым компилятор Java и JVM должны находить необходимые классы для компиляции или выполнения других классов.</a:t>
            </a:r>
            <a:endParaRPr lang="en-US" sz="85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88331"/>
            <a:ext cx="3086100" cy="13668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88331"/>
            <a:ext cx="3086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ConfigurationContainer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78856"/>
            <a:ext cx="30861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объявление и управление конфигурациями.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Project имеет свой ConfigurationContainer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95700" y="1090613"/>
            <a:ext cx="4838700" cy="30622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0" y="1452563"/>
            <a:ext cx="1600200" cy="11811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190750" y="145256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2-ой этап</a:t>
            </a:r>
            <a:endParaRPr lang="en-US" sz="1033" dirty="0"/>
          </a:p>
        </p:txBody>
      </p:sp>
      <p:sp>
        <p:nvSpPr>
          <p:cNvPr id="4" name="Text 2"/>
          <p:cNvSpPr/>
          <p:nvPr/>
        </p:nvSpPr>
        <p:spPr>
          <a:xfrm>
            <a:off x="2190750" y="1700213"/>
            <a:ext cx="1600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Проходится по dependencies и наполняет </a:t>
            </a:r>
            <a:pPr algn="l" indent="0" marL="0">
              <a:lnSpc>
                <a:spcPts val="1146"/>
              </a:lnSpc>
              <a:buNone/>
            </a:pPr>
            <a:r>
              <a:rPr lang="en-US" sz="855" i="1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конфигурациями ConfigurationContainer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0750" y="2366963"/>
            <a:ext cx="9525" cy="2762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53050" y="1909762"/>
            <a:ext cx="1600200" cy="7239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5353050" y="1909762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4-ый этап</a:t>
            </a:r>
            <a:endParaRPr lang="en-US" sz="1033" dirty="0"/>
          </a:p>
        </p:txBody>
      </p:sp>
      <p:sp>
        <p:nvSpPr>
          <p:cNvPr id="8" name="Text 5"/>
          <p:cNvSpPr/>
          <p:nvPr/>
        </p:nvSpPr>
        <p:spPr>
          <a:xfrm>
            <a:off x="5353050" y="215741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Строит dependency graph</a:t>
            </a:r>
            <a:endParaRPr lang="en-US" sz="85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53050" y="2366963"/>
            <a:ext cx="9525" cy="2762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71900" y="2633663"/>
            <a:ext cx="1600200" cy="1028700"/>
          </a:xfrm>
          <a:prstGeom prst="rect">
            <a:avLst/>
          </a:prstGeom>
          <a:noFill/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71900" y="2633663"/>
            <a:ext cx="9525" cy="2762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9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3-ий этап</a:t>
            </a:r>
            <a:endParaRPr lang="en-US" sz="1033" dirty="0"/>
          </a:p>
        </p:txBody>
      </p:sp>
      <p:sp>
        <p:nvSpPr>
          <p:cNvPr id="13" name="Text 8"/>
          <p:cNvSpPr/>
          <p:nvPr/>
        </p:nvSpPr>
        <p:spPr>
          <a:xfrm>
            <a:off x="3771900" y="320516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запуске Task Gradle берёт конкретную </a:t>
            </a:r>
            <a:pPr algn="l" indent="0" marL="0">
              <a:lnSpc>
                <a:spcPts val="1146"/>
              </a:lnSpc>
              <a:buNone/>
            </a:pPr>
            <a:r>
              <a:rPr lang="en-US" sz="855" i="1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855" dirty="0"/>
          </a:p>
        </p:txBody>
      </p:sp>
      <p:sp>
        <p:nvSpPr>
          <p:cNvPr id="14" name="Shape 9"/>
          <p:cNvSpPr/>
          <p:nvPr/>
        </p:nvSpPr>
        <p:spPr>
          <a:xfrm>
            <a:off x="6934200" y="2633663"/>
            <a:ext cx="1600200" cy="1028700"/>
          </a:xfrm>
          <a:prstGeom prst="rect">
            <a:avLst/>
          </a:prstGeom>
          <a:noFill/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4200" y="2633663"/>
            <a:ext cx="9525" cy="2762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342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5-ый этап</a:t>
            </a:r>
            <a:endParaRPr lang="en-US" sz="1033" dirty="0"/>
          </a:p>
        </p:txBody>
      </p:sp>
      <p:sp>
        <p:nvSpPr>
          <p:cNvPr id="17" name="Text 11"/>
          <p:cNvSpPr/>
          <p:nvPr/>
        </p:nvSpPr>
        <p:spPr>
          <a:xfrm>
            <a:off x="6934200" y="320516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Проходится по графу и скачивает артифакты, если их нет в кэше</a:t>
            </a:r>
            <a:endParaRPr lang="en-US" sz="855" dirty="0"/>
          </a:p>
        </p:txBody>
      </p:sp>
      <p:sp>
        <p:nvSpPr>
          <p:cNvPr id="18" name="Shape 12"/>
          <p:cNvSpPr/>
          <p:nvPr/>
        </p:nvSpPr>
        <p:spPr>
          <a:xfrm>
            <a:off x="609600" y="2633663"/>
            <a:ext cx="1600200" cy="876300"/>
          </a:xfrm>
          <a:prstGeom prst="rect">
            <a:avLst/>
          </a:prstGeom>
          <a:noFill/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600" y="2633663"/>
            <a:ext cx="9525" cy="2762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6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1-й этап</a:t>
            </a:r>
            <a:endParaRPr lang="en-US" sz="1033" dirty="0"/>
          </a:p>
        </p:txBody>
      </p:sp>
      <p:sp>
        <p:nvSpPr>
          <p:cNvPr id="21" name="Text 14"/>
          <p:cNvSpPr/>
          <p:nvPr/>
        </p:nvSpPr>
        <p:spPr>
          <a:xfrm>
            <a:off x="609600" y="320516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создаёт </a:t>
            </a:r>
            <a:pPr algn="l" indent="0" marL="0">
              <a:lnSpc>
                <a:spcPts val="1146"/>
              </a:lnSpc>
              <a:buNone/>
            </a:pPr>
            <a:r>
              <a:rPr lang="en-US" sz="855" i="1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его </a:t>
            </a:r>
            <a:pPr algn="l" indent="0" marL="0">
              <a:lnSpc>
                <a:spcPts val="1146"/>
              </a:lnSpc>
              <a:buNone/>
            </a:pPr>
            <a:r>
              <a:rPr lang="en-US" sz="855" i="1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ConfigurationContainer</a:t>
            </a:r>
            <a:endParaRPr lang="en-US" sz="855" dirty="0"/>
          </a:p>
        </p:txBody>
      </p:sp>
      <p:sp>
        <p:nvSpPr>
          <p:cNvPr id="22" name="Text 15"/>
          <p:cNvSpPr/>
          <p:nvPr/>
        </p:nvSpPr>
        <p:spPr>
          <a:xfrm>
            <a:off x="609600" y="609600"/>
            <a:ext cx="7924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 обработки и добавление зависимостей в gradle</a:t>
            </a:r>
            <a:endParaRPr lang="en-US" sz="1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4363" y="2633662"/>
            <a:ext cx="7939087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2688" y="45339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зависимости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04988" y="138113"/>
            <a:ext cx="5534025" cy="42052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Build Lifecycle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последовательность фаз, которые Gradle выполняет, чтобы преобразовать build-скрипты, исходный код и другие ресурсы в готовый результат сборки.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162175"/>
            <a:ext cx="7924800" cy="81681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09713"/>
            <a:ext cx="3633788" cy="21240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09713"/>
            <a:ext cx="3633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Initialization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609600" y="1966912"/>
            <a:ext cx="3633788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Определяется структуру сборки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Определяется файл settings.gradle.kts 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Создается экземпляр Settings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Выполняется файл settings.gradle.kts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Создаётся экземпляр Project для каждого модуля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95425"/>
            <a:ext cx="3371850" cy="21478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95425"/>
            <a:ext cx="3371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885950"/>
            <a:ext cx="337185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Определяется, какую работу нужно выполнить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Выполняются build-файлы каждого проекта, участвующего в сборке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Анализируется конфигурации (input/output) тасок (task)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Создаётся граф задач (task graph) для запрошенных задач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19600" y="1200150"/>
            <a:ext cx="4114800" cy="312896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76475"/>
            <a:ext cx="3238500" cy="5857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76475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3238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Происходит выполнение работы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71950" y="914400"/>
            <a:ext cx="497205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2688" y="45339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Gradle build lifecycle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9225" y="0"/>
            <a:ext cx="6305550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96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Кэширование в Gradle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7924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 в Gradle используется для ускорения сборки и повторного использования результатов.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1285875" y="3200400"/>
            <a:ext cx="1057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cache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729038" y="3200400"/>
            <a:ext cx="1685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cache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6472238" y="3200400"/>
            <a:ext cx="1762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cache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29038" y="1928813"/>
            <a:ext cx="1685925" cy="12858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838" y="1938337"/>
            <a:ext cx="1652588" cy="126206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05575" y="1909762"/>
            <a:ext cx="1695450" cy="129063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Cache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792480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механизм кэширования, цель которого ускорить сборку за счёт повторного использования результатов предыдущих сборок.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 работы Build Cache: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сборки (outputs) сохраняются в кэше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следующей сборке Gradle проверяет изменились ли входные данные (inputs)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входные данные не изменились, Gradle берёт результат из кэша</a:t>
            </a:r>
            <a:endParaRPr lang="en-US" sz="1283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28850"/>
            <a:ext cx="2333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Build Cache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357563" y="2333625"/>
            <a:ext cx="52625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Запустить сборку с флагом: </a:t>
            </a:r>
            <a:pPr algn="l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build --build-cache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Добавить в файл </a:t>
            </a:r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gradle.properties</a:t>
            </a:r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 </a:t>
            </a:r>
            <a:pPr algn="l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org.gradle.caching=true</a:t>
            </a:r>
            <a:endParaRPr lang="en-US" sz="1283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cache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014788" y="1862138"/>
            <a:ext cx="4519613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Кэширование: сохраняет результат фазы Configuration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Повторное использование: может полностью пропустить фазу Configuration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Эффект: Значительное сокращение времени ожидания перед фазой Execution</a:t>
            </a:r>
            <a:endParaRPr lang="en-US" sz="1283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4748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Configuration cache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Запустить сборку с флагом: </a:t>
            </a:r>
            <a:pPr algn="l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build --configuration-cache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Font typeface="+mj-lt"/>
              <a:buAutoNum type="arabicPeriod" startAt="1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Добавить в файл </a:t>
            </a:r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gradle.properties</a:t>
            </a:r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 </a:t>
            </a:r>
            <a:pPr algn="l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org.gradle.configuration-cache=true</a:t>
            </a:r>
            <a:endParaRPr lang="en-US" sz="1283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775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cache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85775" y="1066800"/>
            <a:ext cx="75104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 кэширует зависимости локально, чтобы избежать повторных загрузок.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485775" y="2452688"/>
            <a:ext cx="22050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 находится в каталоге: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00363" y="2266950"/>
            <a:ext cx="2986088" cy="60483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Источники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7924800" cy="3095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https://docs.gradle.org/current/userguide/gradle_daemon.html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https://docs.gradle.org/current/userguide/gradle_wrapper.html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https://docs.gradle.org/current/userguide/settings_file_basics.html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https://docs.gradle.org/current/userguide/build_file_basics.html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https://docs.gradle.org/current/userguide/plugins.html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https://docs.gradle.org/current/userguide/getting_started_dep_man.html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https://docs.gradle.org/current/userguide/build_lifecycle_intermediate.html#build_lifecycle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https://docs.gradle.org/current/userguide/build_cache.html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https://docs.gradle.org/current/userguide/configuration_cache.html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https://docs.gradle.org/current/userguide/dependency_caching.html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Курсы по gradle: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u="sng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https://dpeuniversity.gradle.com/app</a:t>
            </a:r>
            <a:endParaRPr lang="en-US" sz="1283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Gradle</a:t>
            </a:r>
            <a:endParaRPr lang="en-US" sz="3420" dirty="0"/>
          </a:p>
        </p:txBody>
      </p:sp>
      <p:sp>
        <p:nvSpPr>
          <p:cNvPr id="5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</a:t>
            </a:r>
            <a:endParaRPr lang="en-US" sz="128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62375" y="176213"/>
            <a:ext cx="4772025" cy="4772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2026-04-06T02:39:37Z</dcterms:created>
  <dcterms:modified xsi:type="dcterms:W3CDTF">2026-04-06T02:39:37Z</dcterms:modified>
</cp:coreProperties>
</file>